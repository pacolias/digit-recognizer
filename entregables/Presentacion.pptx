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48" r:id="rId2"/>
    <p:sldId id="336" r:id="rId3"/>
    <p:sldId id="349" r:id="rId4"/>
    <p:sldId id="351" r:id="rId5"/>
    <p:sldId id="350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 de Windows" initials="UdW" lastIdx="1" clrIdx="0">
    <p:extLst>
      <p:ext uri="{19B8F6BF-5375-455C-9EA6-DF929625EA0E}">
        <p15:presenceInfo xmlns:p15="http://schemas.microsoft.com/office/powerpoint/2012/main" userId="Usuario de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5EEF6D-D3EB-497D-BF58-14EDEB902252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3FF28-982B-4F4B-8F3A-7D872FE5B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420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105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7711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4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7085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2411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985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4968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926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4795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396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5906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8848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4824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774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3FF28-982B-4F4B-8F3A-7D872FE5BAE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966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F883-DE8D-4680-B955-C0247CEA331C}" type="datetime1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12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5008-4304-4C6D-8112-28EED695EC4A}" type="datetime1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788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011EE-3E86-4728-BAFD-34B36F7CBC93}" type="datetime1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09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8355-A9F3-4F7D-97DA-C65F0BBBE038}" type="datetime1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218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F6DDC-E00F-44FF-A21D-474244B2AF43}" type="datetime1">
              <a:rPr lang="es-ES" smtClean="0"/>
              <a:t>30/11/2025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697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F5BAC-D167-4B2C-8BB1-2BF8C40F3C74}" type="datetime1">
              <a:rPr lang="es-ES" smtClean="0"/>
              <a:t>30/11/2025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10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0303-9BCA-446C-A0F8-7B26155B4EDE}" type="datetime1">
              <a:rPr lang="es-ES" smtClean="0"/>
              <a:t>30/11/2025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83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666B-3770-4740-BBE5-2AFF2B54AA22}" type="datetime1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76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8300A-1F6F-4DF4-8328-37D72F8C33BF}" type="datetime1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37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F0F2-4A56-4564-821A-7419FEBCB171}" type="datetime1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85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4560-EB1F-4804-9078-CF80449C05D7}" type="datetime1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63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9088-C007-4AC1-BA76-8716EAA66FF9}" type="datetime1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smtClean="0"/>
              <a:t>IES Santiago Ramón y Cajal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7E885-B3BE-41A1-BD2F-BCAC2B7705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152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digit-recognizer/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2650087" y="833605"/>
            <a:ext cx="674583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600" dirty="0" smtClean="0">
                <a:latin typeface="Gabriola" panose="04040605051002020D02" pitchFamily="82" charset="0"/>
              </a:rPr>
              <a:t>Aprendizaje computacional.</a:t>
            </a:r>
          </a:p>
          <a:p>
            <a:pPr algn="ctr"/>
            <a:r>
              <a:rPr lang="es-ES" sz="4600" dirty="0" err="1" smtClean="0">
                <a:latin typeface="Gabriola" panose="04040605051002020D02" pitchFamily="82" charset="0"/>
              </a:rPr>
              <a:t>Digit</a:t>
            </a:r>
            <a:r>
              <a:rPr lang="es-ES" sz="4600" dirty="0" smtClean="0">
                <a:latin typeface="Gabriola" panose="04040605051002020D02" pitchFamily="82" charset="0"/>
              </a:rPr>
              <a:t> </a:t>
            </a:r>
            <a:r>
              <a:rPr lang="es-ES" sz="4600" dirty="0" err="1" smtClean="0">
                <a:latin typeface="Gabriola" panose="04040605051002020D02" pitchFamily="82" charset="0"/>
              </a:rPr>
              <a:t>recognition</a:t>
            </a:r>
            <a:r>
              <a:rPr lang="es-ES" sz="4600" dirty="0" smtClean="0">
                <a:latin typeface="Gabriola" panose="04040605051002020D02" pitchFamily="82" charset="0"/>
              </a:rPr>
              <a:t>.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964190" y="3004186"/>
            <a:ext cx="4058817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200" dirty="0" smtClean="0">
                <a:latin typeface="Cambria Math" panose="02040503050406030204" pitchFamily="18" charset="0"/>
              </a:rPr>
              <a:t>Joaquín Cotrina Santos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Cambria Math" panose="02040503050406030204" pitchFamily="18" charset="0"/>
              </a:rPr>
              <a:t>Juan Miguel Fernández Tejada</a:t>
            </a:r>
          </a:p>
          <a:p>
            <a:pPr>
              <a:lnSpc>
                <a:spcPct val="150000"/>
              </a:lnSpc>
            </a:pPr>
            <a:r>
              <a:rPr lang="es-ES" sz="2200" dirty="0" smtClean="0">
                <a:latin typeface="Cambria Math" panose="02040503050406030204" pitchFamily="18" charset="0"/>
              </a:rPr>
              <a:t>Francisco Javier Molina Cuenca</a:t>
            </a:r>
          </a:p>
          <a:p>
            <a:pPr>
              <a:lnSpc>
                <a:spcPct val="150000"/>
              </a:lnSpc>
            </a:pPr>
            <a:r>
              <a:rPr lang="es-ES" sz="2200" dirty="0" smtClean="0">
                <a:latin typeface="Cambria Math" panose="02040503050406030204" pitchFamily="18" charset="0"/>
              </a:rPr>
              <a:t>Alberto Ramírez Collado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0032245" y="5697985"/>
            <a:ext cx="185495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3000" dirty="0" smtClean="0">
                <a:latin typeface="Cambria Math" panose="02040503050406030204" pitchFamily="18" charset="0"/>
              </a:rPr>
              <a:t>UMA  </a:t>
            </a:r>
          </a:p>
          <a:p>
            <a:pPr algn="ctr"/>
            <a:r>
              <a:rPr lang="es-ES" sz="2200" dirty="0" smtClean="0">
                <a:latin typeface="Cambria Math" panose="02040503050406030204" pitchFamily="18" charset="0"/>
              </a:rPr>
              <a:t>ETSII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966" y="3162523"/>
            <a:ext cx="3977985" cy="1714649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334166" y="5959594"/>
            <a:ext cx="33776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2000" dirty="0" smtClean="0">
                <a:latin typeface="Gabriola" panose="04040605051002020D02" pitchFamily="82" charset="0"/>
              </a:rPr>
              <a:t>Miércoles 3 de diciembre de 2025</a:t>
            </a:r>
            <a:endParaRPr lang="es-ES" sz="2000" dirty="0" smtClean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57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/>
              <p:cNvSpPr txBox="1"/>
              <p:nvPr/>
            </p:nvSpPr>
            <p:spPr>
              <a:xfrm>
                <a:off x="587829" y="382555"/>
                <a:ext cx="11056775" cy="26058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Objetivo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s-ES" sz="3000" dirty="0">
                    <a:latin typeface="Gabriola" panose="04040605051002020D02" pitchFamily="82" charset="0"/>
                  </a:rPr>
                  <a:t>	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En este proyecto se pretende construir un pipeline de Machine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Learning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en R para reconocer dígitos manuscritos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600" b="0" i="1" smtClean="0">
                            <a:latin typeface="Cambria Math" panose="02040503050406030204" pitchFamily="18" charset="0"/>
                          </a:rPr>
                          <m:t>0−9</m:t>
                        </m:r>
                      </m:e>
                    </m:d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 a partir de imágenes </a:t>
                </a:r>
                <a14:m>
                  <m:oMath xmlns:m="http://schemas.openxmlformats.org/officeDocument/2006/math">
                    <m:r>
                      <a:rPr lang="es-ES" sz="2600" b="0" i="1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×28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. El conjunto de datos empleado es “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Digit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recognition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” de MNIST (</a:t>
                </a:r>
                <a:r>
                  <a:rPr lang="es-ES" dirty="0">
                    <a:hlinkClick r:id="rId3" tooltip="https://www.kaggle.com/competitions/digit-recognizer/data"/>
                  </a:rPr>
                  <a:t>https://</a:t>
                </a:r>
                <a:r>
                  <a:rPr lang="es-ES" dirty="0" smtClean="0">
                    <a:hlinkClick r:id="rId3" tooltip="https://www.kaggle.com/competitions/digit-recognizer/data"/>
                  </a:rPr>
                  <a:t>www.kaggle.com/competitions/digit-recognizer/data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).</a:t>
                </a:r>
                <a:endParaRPr lang="es-ES" sz="3000" dirty="0">
                  <a:latin typeface="Gabriola" panose="04040605051002020D02" pitchFamily="82" charset="0"/>
                </a:endParaRPr>
              </a:p>
            </p:txBody>
          </p:sp>
        </mc:Choice>
        <mc:Fallback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605842"/>
              </a:xfrm>
              <a:prstGeom prst="rect">
                <a:avLst/>
              </a:prstGeom>
              <a:blipFill>
                <a:blip r:embed="rId4"/>
                <a:stretch>
                  <a:fillRect l="-2756" t="-6323" r="-2150" b="-796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1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/>
              <p:cNvSpPr txBox="1"/>
              <p:nvPr/>
            </p:nvSpPr>
            <p:spPr>
              <a:xfrm>
                <a:off x="587829" y="382555"/>
                <a:ext cx="11056775" cy="49859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3000" dirty="0" smtClean="0">
                    <a:latin typeface="Gabriola" panose="04040605051002020D02" pitchFamily="82" charset="0"/>
                  </a:rPr>
                  <a:t>	Este proyecto está modulado de la siguiente manera:</a:t>
                </a:r>
              </a:p>
              <a:p>
                <a:pPr algn="just"/>
                <a:endParaRPr lang="es-ES" sz="3000" dirty="0">
                  <a:latin typeface="Gabriola" panose="04040605051002020D02" pitchFamily="82" charset="0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_data_prep.R    		</a:t>
                </a:r>
                <a:r>
                  <a:rPr lang="es-ES" sz="24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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  preparación de los datos.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_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eda</a:t>
                </a:r>
                <a:r>
                  <a:rPr lang="es-ES" sz="3000" dirty="0" err="1">
                    <a:latin typeface="Gabriola" panose="04040605051002020D02" pitchFamily="82" charset="0"/>
                  </a:rPr>
                  <a:t>.R</a:t>
                </a:r>
                <a:r>
                  <a:rPr lang="es-ES" sz="3000" dirty="0">
                    <a:latin typeface="Gabriola" panose="04040605051002020D02" pitchFamily="82" charset="0"/>
                  </a:rPr>
                  <a:t>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		</a:t>
                </a:r>
                <a:r>
                  <a:rPr lang="es-ES" sz="24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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  análisis exploratorio.</a:t>
                </a:r>
                <a:endParaRPr lang="es-ES" sz="3000" dirty="0">
                  <a:latin typeface="Gabriola" panose="04040605051002020D02" pitchFamily="82" charset="0"/>
                  <a:sym typeface="Wingdings" panose="05000000000000000000" pitchFamily="2" charset="2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_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feature_engineering</a:t>
                </a:r>
                <a:r>
                  <a:rPr lang="es-ES" sz="3000" dirty="0" err="1">
                    <a:latin typeface="Gabriola" panose="04040605051002020D02" pitchFamily="82" charset="0"/>
                  </a:rPr>
                  <a:t>.R</a:t>
                </a:r>
                <a:r>
                  <a:rPr lang="es-ES" sz="3000" dirty="0">
                    <a:latin typeface="Gabriola" panose="04040605051002020D02" pitchFamily="82" charset="0"/>
                  </a:rPr>
                  <a:t>  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</a:t>
                </a:r>
                <a:r>
                  <a:rPr lang="es-ES" sz="24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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  ingeniería de las características y PCA.</a:t>
                </a:r>
                <a:endParaRPr lang="es-ES" sz="3000" dirty="0">
                  <a:latin typeface="Gabriola" panose="04040605051002020D02" pitchFamily="82" charset="0"/>
                  <a:sym typeface="Wingdings" panose="05000000000000000000" pitchFamily="2" charset="2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_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models.</a:t>
                </a:r>
                <a:r>
                  <a:rPr lang="es-ES" sz="3000" dirty="0" err="1">
                    <a:latin typeface="Gabriola" panose="04040605051002020D02" pitchFamily="82" charset="0"/>
                  </a:rPr>
                  <a:t>R</a:t>
                </a:r>
                <a:r>
                  <a:rPr lang="es-ES" sz="3000" dirty="0">
                    <a:latin typeface="Gabriola" panose="04040605051002020D02" pitchFamily="82" charset="0"/>
                  </a:rPr>
                  <a:t> 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 	</a:t>
                </a:r>
                <a:r>
                  <a:rPr lang="es-ES" sz="24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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  entrenamiento de modelos base.</a:t>
                </a:r>
                <a:endParaRPr lang="es-ES" sz="3000" dirty="0">
                  <a:latin typeface="Gabriola" panose="04040605051002020D02" pitchFamily="82" charset="0"/>
                  <a:sym typeface="Wingdings" panose="05000000000000000000" pitchFamily="2" charset="2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_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tunning.</a:t>
                </a:r>
                <a:r>
                  <a:rPr lang="es-ES" sz="3000" dirty="0" err="1">
                    <a:latin typeface="Gabriola" panose="04040605051002020D02" pitchFamily="82" charset="0"/>
                  </a:rPr>
                  <a:t>R</a:t>
                </a:r>
                <a:r>
                  <a:rPr lang="es-ES" sz="3000" dirty="0">
                    <a:latin typeface="Gabriola" panose="04040605051002020D02" pitchFamily="82" charset="0"/>
                  </a:rPr>
                  <a:t>  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	</a:t>
                </a:r>
                <a:r>
                  <a:rPr lang="es-ES" sz="24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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  optimización de </a:t>
                </a:r>
                <a:r>
                  <a:rPr lang="es-ES" sz="3000" dirty="0" err="1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hiperparámetros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.</a:t>
                </a:r>
                <a:endParaRPr lang="es-ES" sz="3000" dirty="0">
                  <a:latin typeface="Gabriola" panose="04040605051002020D02" pitchFamily="82" charset="0"/>
                  <a:sym typeface="Wingdings" panose="05000000000000000000" pitchFamily="2" charset="2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_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ensemble</a:t>
                </a:r>
                <a:r>
                  <a:rPr lang="es-ES" sz="3000" dirty="0" err="1">
                    <a:latin typeface="Gabriola" panose="04040605051002020D02" pitchFamily="82" charset="0"/>
                  </a:rPr>
                  <a:t>.R</a:t>
                </a:r>
                <a:r>
                  <a:rPr lang="es-ES" sz="3000" dirty="0">
                    <a:latin typeface="Gabriola" panose="04040605051002020D02" pitchFamily="82" charset="0"/>
                  </a:rPr>
                  <a:t>  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	</a:t>
                </a:r>
                <a:r>
                  <a:rPr lang="es-ES" sz="24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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  </a:t>
                </a:r>
                <a:r>
                  <a:rPr lang="es-ES" sz="3000" dirty="0" err="1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stacking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de modelos.</a:t>
                </a:r>
                <a:endParaRPr lang="es-ES" sz="3000" dirty="0">
                  <a:latin typeface="Gabriola" panose="04040605051002020D02" pitchFamily="82" charset="0"/>
                  <a:sym typeface="Wingdings" panose="05000000000000000000" pitchFamily="2" charset="2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_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evaluate.</a:t>
                </a:r>
                <a:r>
                  <a:rPr lang="es-ES" sz="3000" dirty="0" err="1">
                    <a:latin typeface="Gabriola" panose="04040605051002020D02" pitchFamily="82" charset="0"/>
                  </a:rPr>
                  <a:t>R</a:t>
                </a:r>
                <a:r>
                  <a:rPr lang="es-ES" sz="3000" dirty="0">
                    <a:latin typeface="Gabriola" panose="04040605051002020D02" pitchFamily="82" charset="0"/>
                  </a:rPr>
                  <a:t>  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	</a:t>
                </a:r>
                <a:r>
                  <a:rPr lang="es-ES" sz="24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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  evaluación final.</a:t>
                </a:r>
                <a:endParaRPr lang="es-ES" sz="3000" dirty="0">
                  <a:latin typeface="Gabriola" panose="04040605051002020D02" pitchFamily="82" charset="0"/>
                  <a:sym typeface="Wingdings" panose="05000000000000000000" pitchFamily="2" charset="2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_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sabe_model</a:t>
                </a:r>
                <a:r>
                  <a:rPr lang="es-ES" sz="3000" dirty="0" err="1">
                    <a:latin typeface="Gabriola" panose="04040605051002020D02" pitchFamily="82" charset="0"/>
                  </a:rPr>
                  <a:t>.R</a:t>
                </a:r>
                <a:r>
                  <a:rPr lang="es-ES" sz="3000" dirty="0">
                    <a:latin typeface="Gabriola" panose="04040605051002020D02" pitchFamily="82" charset="0"/>
                  </a:rPr>
                  <a:t>  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	</a:t>
                </a:r>
                <a:r>
                  <a:rPr lang="es-ES" sz="24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</a:t>
                </a:r>
                <a:r>
                  <a:rPr lang="es-ES" sz="3000" dirty="0" smtClean="0">
                    <a:latin typeface="Gabriola" panose="04040605051002020D02" pitchFamily="82" charset="0"/>
                    <a:sym typeface="Wingdings" panose="05000000000000000000" pitchFamily="2" charset="2"/>
                  </a:rPr>
                  <a:t>   guardado del modelo final.</a:t>
                </a:r>
                <a:endParaRPr lang="es-ES" sz="3000" dirty="0">
                  <a:latin typeface="Gabriola" panose="04040605051002020D02" pitchFamily="82" charset="0"/>
                  <a:sym typeface="Wingdings" panose="05000000000000000000" pitchFamily="2" charset="2"/>
                </a:endParaRPr>
              </a:p>
              <a:p>
                <a:pPr lvl="1" algn="just"/>
                <a:endParaRPr lang="es-ES" sz="2400" dirty="0" smtClean="0">
                  <a:latin typeface="Gabriola" panose="04040605051002020D02" pitchFamily="82" charset="0"/>
                </a:endParaRPr>
              </a:p>
            </p:txBody>
          </p:sp>
        </mc:Choice>
        <mc:Fallback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4985980"/>
              </a:xfrm>
              <a:prstGeom prst="rect">
                <a:avLst/>
              </a:prstGeom>
              <a:blipFill>
                <a:blip r:embed="rId3"/>
                <a:stretch>
                  <a:fillRect t="-25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7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18" y="494925"/>
            <a:ext cx="7342414" cy="489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2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2923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Preparación de datos: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</a:t>
                </a:r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_data_prep.R</a:t>
                </a:r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Carga de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dataset</a:t>
                </a:r>
                <a:r>
                  <a:rPr lang="es-ES" sz="3000" dirty="0">
                    <a:latin typeface="Gabriola" panose="04040605051002020D02" pitchFamily="82" charset="0"/>
                  </a:rPr>
                  <a:t>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train.csv (MNIST).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Normalización de pixeles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6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Conversión de etiquetas </a:t>
                </a:r>
                <a14:m>
                  <m:oMath xmlns:m="http://schemas.openxmlformats.org/officeDocument/2006/math">
                    <m:r>
                      <a:rPr lang="es-ES" sz="2600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m:rPr>
                        <m:nor/>
                      </m:rPr>
                      <a:rPr lang="es-ES" sz="2600" b="0" i="0" smtClean="0">
                        <a:latin typeface="Cambria Math" panose="02040503050406030204" pitchFamily="18" charset="0"/>
                      </a:rPr>
                      <m:t>0" </m:t>
                    </m:r>
                    <m:r>
                      <m:rPr>
                        <m:nor/>
                      </m:rPr>
                      <a:rPr lang="es-ES" sz="2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"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E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0"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División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train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/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validation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y reducción para pruebas.</a:t>
                </a:r>
                <a:endParaRPr lang="es-ES" sz="3000" dirty="0">
                  <a:latin typeface="Gabriola" panose="04040605051002020D02" pitchFamily="82" charset="0"/>
                </a:endParaRP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923877"/>
              </a:xfrm>
              <a:prstGeom prst="rect">
                <a:avLst/>
              </a:prstGeom>
              <a:blipFill>
                <a:blip r:embed="rId4"/>
                <a:stretch>
                  <a:fillRect l="-2756" t="-5637" b="-709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/>
          <p:cNvSpPr/>
          <p:nvPr/>
        </p:nvSpPr>
        <p:spPr>
          <a:xfrm>
            <a:off x="937107" y="3994039"/>
            <a:ext cx="647855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err="1"/>
              <a:t>train_proc</a:t>
            </a:r>
            <a:r>
              <a:rPr lang="es-ES" sz="2200" dirty="0"/>
              <a:t> &lt;- </a:t>
            </a:r>
            <a:r>
              <a:rPr lang="es-ES" sz="2200" dirty="0" err="1"/>
              <a:t>bind_cols</a:t>
            </a:r>
            <a:r>
              <a:rPr lang="es-ES" sz="2200" dirty="0"/>
              <a:t>(</a:t>
            </a:r>
            <a:r>
              <a:rPr lang="es-ES" sz="2200" dirty="0" err="1"/>
              <a:t>label</a:t>
            </a:r>
            <a:r>
              <a:rPr lang="es-ES" sz="2200" dirty="0"/>
              <a:t> = </a:t>
            </a:r>
            <a:r>
              <a:rPr lang="es-ES" sz="2200" dirty="0" err="1"/>
              <a:t>labels</a:t>
            </a:r>
            <a:r>
              <a:rPr lang="es-ES" sz="2200" dirty="0"/>
              <a:t>, </a:t>
            </a:r>
            <a:r>
              <a:rPr lang="es-ES" sz="2200" dirty="0" err="1"/>
              <a:t>pixels_scaled</a:t>
            </a:r>
            <a:r>
              <a:rPr lang="es-ES" sz="2200" dirty="0" smtClean="0"/>
              <a:t>)</a:t>
            </a:r>
          </a:p>
          <a:p>
            <a:r>
              <a:rPr lang="es-ES" sz="2200" dirty="0" err="1" smtClean="0"/>
              <a:t>train_set</a:t>
            </a:r>
            <a:r>
              <a:rPr lang="es-ES" sz="2200" dirty="0" smtClean="0"/>
              <a:t> </a:t>
            </a:r>
            <a:r>
              <a:rPr lang="es-ES" sz="2200" dirty="0"/>
              <a:t>&lt;- </a:t>
            </a:r>
            <a:r>
              <a:rPr lang="es-ES" sz="2200" dirty="0" err="1"/>
              <a:t>train_proc</a:t>
            </a:r>
            <a:r>
              <a:rPr lang="es-ES" sz="2200" dirty="0"/>
              <a:t>[</a:t>
            </a:r>
            <a:r>
              <a:rPr lang="es-ES" sz="2200" dirty="0" err="1"/>
              <a:t>idx</a:t>
            </a:r>
            <a:r>
              <a:rPr lang="es-ES" sz="2200" dirty="0"/>
              <a:t>, </a:t>
            </a:r>
            <a:r>
              <a:rPr lang="es-ES" sz="2200" dirty="0" smtClean="0"/>
              <a:t>]</a:t>
            </a:r>
          </a:p>
          <a:p>
            <a:r>
              <a:rPr lang="es-ES" sz="2200" dirty="0" err="1" smtClean="0"/>
              <a:t>valid_set</a:t>
            </a:r>
            <a:r>
              <a:rPr lang="es-ES" sz="2200" dirty="0" smtClean="0"/>
              <a:t> </a:t>
            </a:r>
            <a:r>
              <a:rPr lang="es-ES" sz="2200" dirty="0"/>
              <a:t>&lt;- </a:t>
            </a:r>
            <a:r>
              <a:rPr lang="es-ES" sz="2200" dirty="0" err="1"/>
              <a:t>train_proc</a:t>
            </a:r>
            <a:r>
              <a:rPr lang="es-ES" sz="2200" dirty="0"/>
              <a:t>[-</a:t>
            </a:r>
            <a:r>
              <a:rPr lang="es-ES" sz="2200" dirty="0" err="1"/>
              <a:t>idx</a:t>
            </a:r>
            <a:r>
              <a:rPr lang="es-ES" sz="2200" dirty="0"/>
              <a:t>, ]</a:t>
            </a:r>
          </a:p>
        </p:txBody>
      </p:sp>
    </p:spTree>
    <p:extLst>
      <p:ext uri="{BB962C8B-B14F-4D97-AF65-F5344CB8AC3E}">
        <p14:creationId xmlns:p14="http://schemas.microsoft.com/office/powerpoint/2010/main" val="423780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2923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Análisis exploratorio: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</a:t>
                </a:r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_</a:t>
                </a:r>
                <a:r>
                  <a:rPr lang="es-ES" sz="3000" dirty="0" err="1">
                    <a:latin typeface="Gabriola" panose="04040605051002020D02" pitchFamily="82" charset="0"/>
                  </a:rPr>
                  <a:t>eda</a:t>
                </a:r>
                <a:r>
                  <a:rPr lang="es-ES" sz="3000" dirty="0" err="1">
                    <a:latin typeface="Gabriola" panose="04040605051002020D02" pitchFamily="82" charset="0"/>
                  </a:rPr>
                  <a:t>.R</a:t>
                </a:r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Distribución de clases (gráfico de barras).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Ejemplos por clases.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err="1" smtClean="0">
                    <a:latin typeface="Gabriola" panose="04040605051002020D02" pitchFamily="82" charset="0"/>
                  </a:rPr>
                  <a:t>Sparsity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: porcentaje de píxeles activos por clase.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Histograma de píxeles activos.</a:t>
                </a: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923877"/>
              </a:xfrm>
              <a:prstGeom prst="rect">
                <a:avLst/>
              </a:prstGeom>
              <a:blipFill>
                <a:blip r:embed="rId4"/>
                <a:stretch>
                  <a:fillRect l="-2756" t="-5637" b="-709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607" y="1193763"/>
            <a:ext cx="4774997" cy="477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Ingeniería de características: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</a:t>
                </a:r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_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feature_engineering</a:t>
                </a:r>
                <a:r>
                  <a:rPr lang="es-ES" sz="3000" dirty="0" err="1">
                    <a:latin typeface="Gabriola" panose="04040605051002020D02" pitchFamily="82" charset="0"/>
                  </a:rPr>
                  <a:t>.R</a:t>
                </a:r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Eliminación de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features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de baja varianza.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Reducción de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dimensionalidad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con PCA (</a:t>
                </a:r>
                <a14:m>
                  <m:oMath xmlns:m="http://schemas.openxmlformats.org/officeDocument/2006/math">
                    <m:r>
                      <a:rPr lang="es-ES" sz="2600" b="0" i="1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 varianza).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Guardado de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datasets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procesados (</a:t>
                </a:r>
                <a:r>
                  <a:rPr lang="es-ES" sz="2200" dirty="0" err="1"/>
                  <a:t>train_pca.rds</a:t>
                </a:r>
                <a:r>
                  <a:rPr lang="es-ES" sz="2200" dirty="0"/>
                  <a:t>, </a:t>
                </a:r>
                <a:r>
                  <a:rPr lang="es-ES" sz="2200" dirty="0" err="1" smtClean="0"/>
                  <a:t>valid_pcs.rds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).</a:t>
                </a: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492990"/>
              </a:xfrm>
              <a:prstGeom prst="rect">
                <a:avLst/>
              </a:prstGeom>
              <a:blipFill>
                <a:blip r:embed="rId4"/>
                <a:stretch>
                  <a:fillRect l="-2756" t="-6601" b="-70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280943" y="3653849"/>
            <a:ext cx="1173637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err="1"/>
              <a:t>pca_ctrl</a:t>
            </a:r>
            <a:r>
              <a:rPr lang="es-ES" sz="2200" dirty="0"/>
              <a:t> &lt;- </a:t>
            </a:r>
            <a:r>
              <a:rPr lang="es-ES" sz="2200" dirty="0" err="1"/>
              <a:t>preProcess</a:t>
            </a:r>
            <a:r>
              <a:rPr lang="es-ES" sz="2200" dirty="0"/>
              <a:t>(</a:t>
            </a:r>
            <a:r>
              <a:rPr lang="es-ES" sz="2200" dirty="0" err="1"/>
              <a:t>train_var</a:t>
            </a:r>
            <a:r>
              <a:rPr lang="es-ES" sz="2200" dirty="0"/>
              <a:t> %&gt;% </a:t>
            </a:r>
            <a:r>
              <a:rPr lang="es-ES" sz="2200" dirty="0" err="1"/>
              <a:t>select</a:t>
            </a:r>
            <a:r>
              <a:rPr lang="es-ES" sz="2200" dirty="0"/>
              <a:t>(-</a:t>
            </a:r>
            <a:r>
              <a:rPr lang="es-ES" sz="2200" dirty="0" err="1"/>
              <a:t>label</a:t>
            </a:r>
            <a:r>
              <a:rPr lang="es-ES" sz="2200" dirty="0"/>
              <a:t>), </a:t>
            </a:r>
            <a:r>
              <a:rPr lang="es-ES" sz="2200" dirty="0" err="1"/>
              <a:t>method</a:t>
            </a:r>
            <a:r>
              <a:rPr lang="es-ES" sz="2200" dirty="0"/>
              <a:t> = c("center","</a:t>
            </a:r>
            <a:r>
              <a:rPr lang="es-ES" sz="2200" dirty="0" err="1"/>
              <a:t>scale</a:t>
            </a:r>
            <a:r>
              <a:rPr lang="es-ES" sz="2200" dirty="0"/>
              <a:t>","</a:t>
            </a:r>
            <a:r>
              <a:rPr lang="es-ES" sz="2200" dirty="0" err="1"/>
              <a:t>pca</a:t>
            </a:r>
            <a:r>
              <a:rPr lang="es-ES" sz="2200" dirty="0"/>
              <a:t>"), </a:t>
            </a:r>
            <a:r>
              <a:rPr lang="es-ES" sz="2200" dirty="0" err="1"/>
              <a:t>thresh</a:t>
            </a:r>
            <a:r>
              <a:rPr lang="es-ES" sz="2200" dirty="0"/>
              <a:t> = 0.95</a:t>
            </a:r>
            <a:r>
              <a:rPr lang="es-ES" sz="2200" dirty="0" smtClean="0"/>
              <a:t>)</a:t>
            </a:r>
          </a:p>
          <a:p>
            <a:r>
              <a:rPr lang="es-ES" sz="2200" dirty="0" err="1" smtClean="0"/>
              <a:t>train_pca</a:t>
            </a:r>
            <a:r>
              <a:rPr lang="es-ES" sz="2200" dirty="0" smtClean="0"/>
              <a:t> </a:t>
            </a:r>
            <a:r>
              <a:rPr lang="es-ES" sz="2200" dirty="0"/>
              <a:t>&lt;- </a:t>
            </a:r>
            <a:r>
              <a:rPr lang="es-ES" sz="2200" dirty="0" err="1"/>
              <a:t>predict</a:t>
            </a:r>
            <a:r>
              <a:rPr lang="es-ES" sz="2200" dirty="0"/>
              <a:t>(</a:t>
            </a:r>
            <a:r>
              <a:rPr lang="es-ES" sz="2200" dirty="0" err="1"/>
              <a:t>pca_ctrl</a:t>
            </a:r>
            <a:r>
              <a:rPr lang="es-ES" sz="2200" dirty="0"/>
              <a:t>, </a:t>
            </a:r>
            <a:r>
              <a:rPr lang="es-ES" sz="2200" dirty="0" err="1"/>
              <a:t>train_var</a:t>
            </a:r>
            <a:r>
              <a:rPr lang="es-ES" sz="2200" dirty="0"/>
              <a:t> %&gt;% </a:t>
            </a:r>
            <a:r>
              <a:rPr lang="es-ES" sz="2200" dirty="0" err="1"/>
              <a:t>select</a:t>
            </a:r>
            <a:r>
              <a:rPr lang="es-ES" sz="2200" dirty="0"/>
              <a:t>(-</a:t>
            </a:r>
            <a:r>
              <a:rPr lang="es-ES" sz="2200" dirty="0" err="1"/>
              <a:t>label</a:t>
            </a:r>
            <a:r>
              <a:rPr lang="es-ES" sz="2200" dirty="0" smtClean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69428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4339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Entrenamiento de modelos: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</a:t>
                </a:r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_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models</a:t>
                </a:r>
                <a:r>
                  <a:rPr lang="es-ES" sz="3000" dirty="0" err="1">
                    <a:latin typeface="Gabriola" panose="04040605051002020D02" pitchFamily="82" charset="0"/>
                  </a:rPr>
                  <a:t>.R</a:t>
                </a:r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Modelos entrenados:</a:t>
                </a:r>
              </a:p>
              <a:p>
                <a:pPr marL="971550" lvl="1" indent="-514350" algn="just">
                  <a:buFont typeface="+mj-lt"/>
                  <a:buAutoNum type="arabicPeriod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Árbol de decisión (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rpart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).</a:t>
                </a:r>
              </a:p>
              <a:p>
                <a:pPr marL="971550" lvl="1" indent="-514350" algn="just">
                  <a:buFont typeface="+mj-lt"/>
                  <a:buAutoNum type="arabicPeriod"/>
                </a:pPr>
                <a:r>
                  <a:rPr lang="es-ES" sz="3000" dirty="0" err="1" smtClean="0">
                    <a:latin typeface="Gabriola" panose="04040605051002020D02" pitchFamily="82" charset="0"/>
                  </a:rPr>
                  <a:t>Random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forest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.</a:t>
                </a:r>
              </a:p>
              <a:p>
                <a:pPr marL="971550" lvl="1" indent="-514350" algn="just">
                  <a:buFont typeface="+mj-lt"/>
                  <a:buAutoNum type="arabicPeriod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SVM lineal.</a:t>
                </a:r>
              </a:p>
              <a:p>
                <a:pPr marL="971550" lvl="1" indent="-514350" algn="just">
                  <a:buFont typeface="+mj-lt"/>
                  <a:buAutoNum type="arabicPeriod"/>
                </a:pPr>
                <a:r>
                  <a:rPr lang="es-ES" sz="3000" dirty="0" err="1" smtClean="0">
                    <a:latin typeface="Gabriola" panose="04040605051002020D02" pitchFamily="82" charset="0"/>
                  </a:rPr>
                  <a:t>Perceptrón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multicapa.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Entrenamiento rápido con </a:t>
                </a:r>
                <a:r>
                  <a:rPr lang="es-ES" sz="2200" dirty="0" err="1" smtClean="0"/>
                  <a:t>trainControl</a:t>
                </a:r>
                <a:r>
                  <a:rPr lang="es-ES" sz="2200" dirty="0" smtClean="0"/>
                  <a:t>(</a:t>
                </a:r>
                <a:r>
                  <a:rPr lang="es-ES" sz="2200" dirty="0" err="1" smtClean="0"/>
                  <a:t>method</a:t>
                </a:r>
                <a:r>
                  <a:rPr lang="es-ES" sz="2200" dirty="0"/>
                  <a:t>=“</a:t>
                </a:r>
                <a:r>
                  <a:rPr lang="es-ES" sz="2200" dirty="0" err="1"/>
                  <a:t>none</a:t>
                </a:r>
                <a:r>
                  <a:rPr lang="es-ES" sz="2200" dirty="0" smtClean="0"/>
                  <a:t>”).</a:t>
                </a:r>
                <a:endParaRPr lang="es-ES" sz="22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Resultados preliminares en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Accuracy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en validación.</a:t>
                </a: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4339650"/>
              </a:xfrm>
              <a:prstGeom prst="rect">
                <a:avLst/>
              </a:prstGeom>
              <a:blipFill>
                <a:blip r:embed="rId4"/>
                <a:stretch>
                  <a:fillRect l="-2756" t="-3792" b="-36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993" y="1192375"/>
            <a:ext cx="45339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3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2462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Optimización de </a:t>
                </a:r>
                <a:r>
                  <a:rPr lang="es-ES" sz="4000" u="sng" dirty="0" err="1" smtClean="0">
                    <a:latin typeface="Gabriola" panose="04040605051002020D02" pitchFamily="82" charset="0"/>
                  </a:rPr>
                  <a:t>hiperparámetros</a:t>
                </a:r>
                <a:r>
                  <a:rPr lang="es-ES" sz="4000" u="sng" dirty="0" smtClean="0">
                    <a:latin typeface="Gabriola" panose="04040605051002020D02" pitchFamily="82" charset="0"/>
                  </a:rPr>
                  <a:t>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</a:t>
                </a:r>
                <a:r>
                  <a:rPr lang="es-ES" sz="2400" dirty="0"/>
                  <a:t> </a:t>
                </a:r>
                <a:r>
                  <a:rPr lang="es-ES" sz="2400" dirty="0" smtClean="0"/>
                  <a:t>5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_tunning.R</a:t>
                </a: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err="1" smtClean="0">
                    <a:latin typeface="Gabriola" panose="04040605051002020D02" pitchFamily="82" charset="0"/>
                  </a:rPr>
                  <a:t>Tunning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con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cross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validation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s-ES" sz="26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folds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Parámetros ajustados por modelo (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ej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: </a:t>
                </a:r>
                <a:r>
                  <a:rPr lang="es-ES" sz="2200" dirty="0" err="1"/>
                  <a:t>mtry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RF, </a:t>
                </a:r>
                <a:r>
                  <a:rPr lang="es-ES" sz="2200" dirty="0" smtClean="0"/>
                  <a:t>C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SVM).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Guardado de modelos ajustados.</a:t>
                </a: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462213"/>
              </a:xfrm>
              <a:prstGeom prst="rect">
                <a:avLst/>
              </a:prstGeom>
              <a:blipFill>
                <a:blip r:embed="rId4"/>
                <a:stretch>
                  <a:fillRect l="-2756" t="-6683" b="-84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/>
          <p:cNvSpPr/>
          <p:nvPr/>
        </p:nvSpPr>
        <p:spPr>
          <a:xfrm>
            <a:off x="937107" y="3391753"/>
            <a:ext cx="10772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err="1"/>
              <a:t>grid_rf</a:t>
            </a:r>
            <a:r>
              <a:rPr lang="es-ES" sz="2200" dirty="0"/>
              <a:t> &lt;- </a:t>
            </a:r>
            <a:r>
              <a:rPr lang="es-ES" sz="2200" dirty="0" err="1"/>
              <a:t>expand.grid</a:t>
            </a:r>
            <a:r>
              <a:rPr lang="es-ES" sz="2200" dirty="0"/>
              <a:t>(</a:t>
            </a:r>
            <a:r>
              <a:rPr lang="es-ES" sz="2200" dirty="0" err="1"/>
              <a:t>mtry</a:t>
            </a:r>
            <a:r>
              <a:rPr lang="es-ES" sz="2200" dirty="0"/>
              <a:t> = c(2, 4</a:t>
            </a:r>
            <a:r>
              <a:rPr lang="es-ES" sz="2200" dirty="0" smtClean="0"/>
              <a:t>))</a:t>
            </a:r>
          </a:p>
          <a:p>
            <a:r>
              <a:rPr lang="es-ES" sz="2200" dirty="0" err="1" smtClean="0"/>
              <a:t>model_rf</a:t>
            </a:r>
            <a:r>
              <a:rPr lang="es-ES" sz="2200" dirty="0" smtClean="0"/>
              <a:t> </a:t>
            </a:r>
            <a:r>
              <a:rPr lang="es-ES" sz="2200" dirty="0"/>
              <a:t>&lt;- </a:t>
            </a:r>
            <a:r>
              <a:rPr lang="es-ES" sz="2200" dirty="0" err="1"/>
              <a:t>train</a:t>
            </a:r>
            <a:r>
              <a:rPr lang="es-ES" sz="2200" dirty="0"/>
              <a:t>(</a:t>
            </a:r>
            <a:r>
              <a:rPr lang="es-ES" sz="2200" dirty="0" err="1"/>
              <a:t>label</a:t>
            </a:r>
            <a:r>
              <a:rPr lang="es-ES" sz="2200" dirty="0"/>
              <a:t> ~ ., data = </a:t>
            </a:r>
            <a:r>
              <a:rPr lang="es-ES" sz="2200" dirty="0" err="1"/>
              <a:t>train_int</a:t>
            </a:r>
            <a:r>
              <a:rPr lang="es-ES" sz="2200" dirty="0"/>
              <a:t>, </a:t>
            </a:r>
            <a:r>
              <a:rPr lang="es-ES" sz="2200" dirty="0" err="1"/>
              <a:t>method</a:t>
            </a:r>
            <a:r>
              <a:rPr lang="es-ES" sz="2200" dirty="0"/>
              <a:t> = "</a:t>
            </a:r>
            <a:r>
              <a:rPr lang="es-ES" sz="2200" dirty="0" err="1"/>
              <a:t>rf</a:t>
            </a:r>
            <a:r>
              <a:rPr lang="es-ES" sz="2200" dirty="0"/>
              <a:t>", </a:t>
            </a:r>
            <a:r>
              <a:rPr lang="es-ES" sz="2200" dirty="0" err="1"/>
              <a:t>trControl</a:t>
            </a:r>
            <a:r>
              <a:rPr lang="es-ES" sz="2200" dirty="0"/>
              <a:t> = </a:t>
            </a:r>
            <a:r>
              <a:rPr lang="es-ES" sz="2200" dirty="0" err="1"/>
              <a:t>ctrl</a:t>
            </a:r>
            <a:r>
              <a:rPr lang="es-ES" sz="2200" dirty="0"/>
              <a:t>, </a:t>
            </a:r>
            <a:r>
              <a:rPr lang="es-ES" sz="2200" dirty="0" err="1"/>
              <a:t>tuneGrid</a:t>
            </a:r>
            <a:r>
              <a:rPr lang="es-ES" sz="2200" dirty="0"/>
              <a:t> = </a:t>
            </a:r>
            <a:r>
              <a:rPr lang="es-ES" sz="2200" dirty="0" err="1"/>
              <a:t>grid_rf</a:t>
            </a:r>
            <a:r>
              <a:rPr lang="es-E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420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2462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Ensemble</a:t>
                </a:r>
                <a:r>
                  <a:rPr lang="es-ES" sz="4000" u="sng" dirty="0">
                    <a:latin typeface="Gabriola" panose="04040605051002020D02" pitchFamily="82" charset="0"/>
                  </a:rPr>
                  <a:t> </a:t>
                </a:r>
                <a:r>
                  <a:rPr lang="es-ES" sz="4000" u="sng" dirty="0" smtClean="0">
                    <a:latin typeface="Gabriola" panose="04040605051002020D02" pitchFamily="82" charset="0"/>
                  </a:rPr>
                  <a:t>/ </a:t>
                </a:r>
                <a:r>
                  <a:rPr lang="es-ES" sz="4000" u="sng" dirty="0" err="1" smtClean="0">
                    <a:latin typeface="Gabriola" panose="04040605051002020D02" pitchFamily="82" charset="0"/>
                  </a:rPr>
                  <a:t>Stacking</a:t>
                </a:r>
                <a:r>
                  <a:rPr lang="es-ES" sz="4000" u="sng" dirty="0" smtClean="0">
                    <a:latin typeface="Gabriola" panose="04040605051002020D02" pitchFamily="82" charset="0"/>
                  </a:rPr>
                  <a:t>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</a:t>
                </a:r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_ensemble.R</a:t>
                </a: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Predicciones de los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 modelos base  </a:t>
                </a:r>
                <a14:m>
                  <m:oMath xmlns:m="http://schemas.openxmlformats.org/officeDocument/2006/math">
                    <m:r>
                      <a:rPr lang="es-E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  conjunto de probabilidades.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Meta – modelo: Regresión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multinomial</a:t>
                </a:r>
                <a:r>
                  <a:rPr lang="es-ES" sz="3000" dirty="0">
                    <a:latin typeface="Gabriola" panose="04040605051002020D02" pitchFamily="82" charset="0"/>
                  </a:rPr>
                  <a:t>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(</a:t>
                </a:r>
                <a:r>
                  <a:rPr lang="es-ES" sz="2200" dirty="0" err="1"/>
                  <a:t>multinom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Objetivo: Mejorar la precisión combinando modelos.</a:t>
                </a: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462213"/>
              </a:xfrm>
              <a:prstGeom prst="rect">
                <a:avLst/>
              </a:prstGeom>
              <a:blipFill>
                <a:blip r:embed="rId4"/>
                <a:stretch>
                  <a:fillRect l="-2756" t="-6683" b="-84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54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Evaluación: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      </a:t>
                </a:r>
                <a:r>
                  <a:rPr lang="es-ES" sz="2400" dirty="0" smtClean="0"/>
                  <a:t> 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_evaluate.R</a:t>
                </a: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Predicción sobre el conjunto de validación.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err="1" smtClean="0">
                    <a:latin typeface="Gabriola" panose="04040605051002020D02" pitchFamily="82" charset="0"/>
                  </a:rPr>
                  <a:t>Accuracy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final del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ensemble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Matriz de confusión guardada (</a:t>
                </a:r>
                <a:r>
                  <a:rPr lang="es-ES" sz="2200" dirty="0"/>
                  <a:t>evaluation.txt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).</a:t>
                </a: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492990"/>
              </a:xfrm>
              <a:prstGeom prst="rect">
                <a:avLst/>
              </a:prstGeom>
              <a:blipFill>
                <a:blip r:embed="rId4"/>
                <a:stretch>
                  <a:fillRect l="-2756" t="-6601" b="-70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07" y="3347979"/>
            <a:ext cx="4147819" cy="173720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532" y="2997569"/>
            <a:ext cx="5193574" cy="328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0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2462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Guardado del modelo final: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      </a:t>
                </a:r>
                <a:r>
                  <a:rPr lang="es-ES" sz="2400" dirty="0" smtClean="0"/>
                  <a:t> 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_sabe_model.R</a:t>
                </a: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Entrenamiento del modelo con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subset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reducido (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 casos).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Salvar el modelo final (</a:t>
                </a:r>
                <a:r>
                  <a:rPr lang="es-ES" sz="2200" dirty="0" smtClean="0"/>
                  <a:t>final_model_100_rds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3000" dirty="0" smtClean="0">
                    <a:latin typeface="Gabriola" panose="04040605051002020D02" pitchFamily="82" charset="0"/>
                  </a:rPr>
                  <a:t>Modelo reproducible y portable.</a:t>
                </a: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462213"/>
              </a:xfrm>
              <a:prstGeom prst="rect">
                <a:avLst/>
              </a:prstGeom>
              <a:blipFill>
                <a:blip r:embed="rId4"/>
                <a:stretch>
                  <a:fillRect l="-2756" t="-6683" b="-84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/>
          <p:cNvSpPr/>
          <p:nvPr/>
        </p:nvSpPr>
        <p:spPr>
          <a:xfrm>
            <a:off x="937106" y="3536270"/>
            <a:ext cx="1095009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err="1"/>
              <a:t>meta_model_small</a:t>
            </a:r>
            <a:r>
              <a:rPr lang="es-ES" sz="2200" dirty="0"/>
              <a:t> &lt;- </a:t>
            </a:r>
            <a:r>
              <a:rPr lang="es-ES" sz="2200" dirty="0" err="1"/>
              <a:t>multinom</a:t>
            </a:r>
            <a:r>
              <a:rPr lang="es-ES" sz="2200" dirty="0"/>
              <a:t>(</a:t>
            </a:r>
            <a:r>
              <a:rPr lang="es-ES" sz="2200" dirty="0" err="1"/>
              <a:t>label</a:t>
            </a:r>
            <a:r>
              <a:rPr lang="es-ES" sz="2200" dirty="0"/>
              <a:t> ~ ., data = </a:t>
            </a:r>
            <a:r>
              <a:rPr lang="es-ES" sz="2200" dirty="0" err="1"/>
              <a:t>meta_small</a:t>
            </a:r>
            <a:r>
              <a:rPr lang="es-ES" sz="2200" dirty="0"/>
              <a:t>, trace = FALSE, </a:t>
            </a:r>
            <a:r>
              <a:rPr lang="es-ES" sz="2200" dirty="0" err="1"/>
              <a:t>MaxNWts</a:t>
            </a:r>
            <a:r>
              <a:rPr lang="es-ES" sz="2200" dirty="0"/>
              <a:t> = 5000</a:t>
            </a:r>
            <a:r>
              <a:rPr lang="es-ES" sz="2200" dirty="0" smtClean="0"/>
              <a:t>)</a:t>
            </a:r>
          </a:p>
          <a:p>
            <a:r>
              <a:rPr lang="es-ES" sz="2200" dirty="0" err="1" smtClean="0"/>
              <a:t>saveRDS</a:t>
            </a:r>
            <a:r>
              <a:rPr lang="es-ES" sz="2200" dirty="0" smtClean="0"/>
              <a:t>(</a:t>
            </a:r>
            <a:r>
              <a:rPr lang="es-ES" sz="2200" dirty="0" err="1" smtClean="0"/>
              <a:t>meta_model_small</a:t>
            </a:r>
            <a:r>
              <a:rPr lang="es-ES" sz="2200" dirty="0"/>
              <a:t>, </a:t>
            </a:r>
            <a:r>
              <a:rPr lang="es-ES" sz="2200" dirty="0" err="1"/>
              <a:t>output_path</a:t>
            </a:r>
            <a:r>
              <a:rPr lang="es-E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91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587829" y="382555"/>
                <a:ext cx="11056775" cy="2923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s-ES" sz="4000" u="sng" dirty="0" smtClean="0">
                    <a:latin typeface="Gabriola" panose="04040605051002020D02" pitchFamily="82" charset="0"/>
                  </a:rPr>
                  <a:t>Funciones auxiliares: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	      </a:t>
                </a:r>
                <a:r>
                  <a:rPr lang="es-ES" sz="2400" dirty="0" smtClean="0"/>
                  <a:t> </a:t>
                </a:r>
                <a:r>
                  <a:rPr lang="es-ES" sz="3000" dirty="0" err="1" smtClean="0">
                    <a:latin typeface="Gabriola" panose="04040605051002020D02" pitchFamily="82" charset="0"/>
                  </a:rPr>
                  <a:t>utils.R</a:t>
                </a:r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algn="just"/>
                <a:endParaRPr lang="es-ES" sz="3000" dirty="0" smtClean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2400" dirty="0" err="1" smtClean="0"/>
                  <a:t>set_seed</a:t>
                </a:r>
                <a:r>
                  <a:rPr lang="es-ES" sz="2400" dirty="0" smtClean="0"/>
                  <a:t>()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s-ES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s-ES" sz="3000" dirty="0" smtClean="0">
                    <a:latin typeface="Gabriola" panose="04040605051002020D02" pitchFamily="82" charset="0"/>
                  </a:rPr>
                  <a:t>  reproducibilidad.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2400" dirty="0" err="1" smtClean="0"/>
                  <a:t>plot_mnist_row</a:t>
                </a:r>
                <a:r>
                  <a:rPr lang="es-ES" sz="2400" dirty="0" smtClean="0"/>
                  <a:t>()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visualización de imágenes.</a:t>
                </a:r>
                <a:endParaRPr lang="es-ES" sz="3000" dirty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2400" dirty="0" err="1" smtClean="0"/>
                  <a:t>save_model</a:t>
                </a:r>
                <a:r>
                  <a:rPr lang="es-ES" sz="2400" dirty="0" smtClean="0"/>
                  <a:t>() / </a:t>
                </a:r>
                <a:r>
                  <a:rPr lang="es-ES" sz="2400" dirty="0" err="1" smtClean="0"/>
                  <a:t>load_model</a:t>
                </a:r>
                <a:r>
                  <a:rPr lang="es-ES" sz="2400" dirty="0" smtClean="0"/>
                  <a:t>()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s-E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guardar y cargar modelos.</a:t>
                </a:r>
                <a:endParaRPr lang="es-ES" sz="3000" dirty="0">
                  <a:latin typeface="Gabriola" panose="04040605051002020D02" pitchFamily="82" charset="0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s-ES" sz="2400" dirty="0" err="1" smtClean="0"/>
                  <a:t>pixels_to_matrix</a:t>
                </a:r>
                <a:r>
                  <a:rPr lang="es-ES" sz="2400" dirty="0" smtClean="0"/>
                  <a:t>()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s-E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s-ES" sz="3000" dirty="0">
                    <a:latin typeface="Gabriola" panose="04040605051002020D02" pitchFamily="82" charset="0"/>
                  </a:rPr>
                  <a:t>  </a:t>
                </a:r>
                <a:r>
                  <a:rPr lang="es-ES" sz="3000" dirty="0" smtClean="0">
                    <a:latin typeface="Gabriola" panose="04040605051002020D02" pitchFamily="82" charset="0"/>
                  </a:rPr>
                  <a:t>convertir píxeles a matriz normalizada.</a:t>
                </a:r>
                <a:endParaRPr lang="es-ES" sz="3000" dirty="0">
                  <a:latin typeface="Gabriola" panose="04040605051002020D02" pitchFamily="82" charset="0"/>
                </a:endParaRP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82555"/>
                <a:ext cx="11056775" cy="2923877"/>
              </a:xfrm>
              <a:prstGeom prst="rect">
                <a:avLst/>
              </a:prstGeom>
              <a:blipFill>
                <a:blip r:embed="rId4"/>
                <a:stretch>
                  <a:fillRect l="-2756" t="-5637" b="-709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68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9" y="5971037"/>
            <a:ext cx="1516577" cy="65369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87829" y="382555"/>
            <a:ext cx="11056775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ES" sz="4000" u="sng" dirty="0" smtClean="0">
                <a:latin typeface="Gabriola" panose="04040605051002020D02" pitchFamily="82" charset="0"/>
              </a:rPr>
              <a:t>Conclusiones:</a:t>
            </a:r>
            <a:r>
              <a:rPr lang="es-ES" sz="3000" dirty="0" smtClean="0">
                <a:latin typeface="Gabriola" panose="04040605051002020D02" pitchFamily="82" charset="0"/>
              </a:rPr>
              <a:t>	</a:t>
            </a:r>
          </a:p>
          <a:p>
            <a:pPr algn="just"/>
            <a:endParaRPr lang="es-ES" sz="3000" dirty="0" smtClean="0">
              <a:latin typeface="Gabriola" panose="04040605051002020D02" pitchFamily="8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000" dirty="0" smtClean="0">
                <a:latin typeface="Gabriola" panose="04040605051002020D02" pitchFamily="82" charset="0"/>
              </a:rPr>
              <a:t>Proyecto modular y reproducible, fácilmente ampliable y modificable.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000" dirty="0" smtClean="0">
                <a:latin typeface="Gabriola" panose="04040605051002020D02" pitchFamily="82" charset="0"/>
              </a:rPr>
              <a:t>Uso de PCA y selección de </a:t>
            </a:r>
            <a:r>
              <a:rPr lang="es-ES" sz="3000" dirty="0" err="1" smtClean="0">
                <a:latin typeface="Gabriola" panose="04040605051002020D02" pitchFamily="82" charset="0"/>
              </a:rPr>
              <a:t>features</a:t>
            </a:r>
            <a:r>
              <a:rPr lang="es-ES" sz="3000" dirty="0" smtClean="0">
                <a:latin typeface="Gabriola" panose="04040605051002020D02" pitchFamily="82" charset="0"/>
              </a:rPr>
              <a:t> para mejorar la eficiencia.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000" dirty="0" err="1" smtClean="0">
                <a:latin typeface="Gabriola" panose="04040605051002020D02" pitchFamily="82" charset="0"/>
              </a:rPr>
              <a:t>Stacking</a:t>
            </a:r>
            <a:r>
              <a:rPr lang="es-ES" sz="3000" dirty="0" smtClean="0">
                <a:latin typeface="Gabriola" panose="04040605051002020D02" pitchFamily="82" charset="0"/>
              </a:rPr>
              <a:t> mejora la predicción frente a modelos individuales (débiles).</a:t>
            </a:r>
          </a:p>
        </p:txBody>
      </p:sp>
    </p:spTree>
    <p:extLst>
      <p:ext uri="{BB962C8B-B14F-4D97-AF65-F5344CB8AC3E}">
        <p14:creationId xmlns:p14="http://schemas.microsoft.com/office/powerpoint/2010/main" val="3280439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217315" y="256113"/>
            <a:ext cx="108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dirty="0" smtClean="0">
              <a:latin typeface="Gabriola" panose="04040605051002020D02" pitchFamily="8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766" y="3200266"/>
            <a:ext cx="3485169" cy="150222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598674" y="1574301"/>
            <a:ext cx="4497355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6000" dirty="0" smtClean="0">
                <a:latin typeface="Gabriola" panose="04040605051002020D02" pitchFamily="82" charset="0"/>
              </a:rPr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417026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3000" i="1" smtClean="0">
            <a:latin typeface="Cambria Math" panose="0204050305040603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3774</TotalTime>
  <Words>184</Words>
  <Application>Microsoft Office PowerPoint</Application>
  <PresentationFormat>Panorámica</PresentationFormat>
  <Paragraphs>103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Gabriola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Joaquin Cotrina</cp:lastModifiedBy>
  <cp:revision>283</cp:revision>
  <dcterms:created xsi:type="dcterms:W3CDTF">2019-02-20T16:04:15Z</dcterms:created>
  <dcterms:modified xsi:type="dcterms:W3CDTF">2025-11-30T17:15:09Z</dcterms:modified>
</cp:coreProperties>
</file>